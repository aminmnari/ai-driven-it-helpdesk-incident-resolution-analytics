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eo Tech Bold" charset="1" panose="020B0804030504040204"/>
      <p:regular r:id="rId22"/>
    </p:embeddedFont>
    <p:embeddedFont>
      <p:font typeface="Poppins" charset="1" panose="000005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954155">
            <a:off x="11475847" y="-16701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7"/>
                </a:lnTo>
                <a:lnTo>
                  <a:pt x="0" y="738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351545">
            <a:off x="-34787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59836" y="4352925"/>
            <a:ext cx="1392979" cy="13929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3220" y="671674"/>
            <a:ext cx="10976372" cy="475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AI-DRIVEN IT HELPDESK &amp; INCIDENT RESOLUTION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5757" y="6399655"/>
            <a:ext cx="12532243" cy="25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8"/>
              </a:lnSpc>
            </a:pPr>
            <a:r>
              <a:rPr lang="en-US" sz="3932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COURSE: IT300 – BUSINESS INTELLIGENCE</a:t>
            </a:r>
          </a:p>
          <a:p>
            <a:pPr algn="l">
              <a:lnSpc>
                <a:spcPts val="4718"/>
              </a:lnSpc>
            </a:pPr>
            <a:r>
              <a:rPr lang="en-US" sz="3932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INSTITUTION: TUNIS BUSINESS SCHOOL</a:t>
            </a:r>
          </a:p>
          <a:p>
            <a:pPr algn="l">
              <a:lnSpc>
                <a:spcPts val="4718"/>
              </a:lnSpc>
            </a:pPr>
            <a:r>
              <a:rPr lang="en-US" sz="3932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STUDENT: MOHAMED AMIN MNARI</a:t>
            </a:r>
          </a:p>
          <a:p>
            <a:pPr algn="l">
              <a:lnSpc>
                <a:spcPts val="4718"/>
              </a:lnSpc>
            </a:pPr>
            <a:r>
              <a:rPr lang="en-US" sz="3932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PROJECT PERIOD: DECEMBER 2025 – JANUARY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753834" y="2055071"/>
            <a:ext cx="1392979" cy="13929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22067">
            <a:off x="-1809207" y="5182569"/>
            <a:ext cx="13398293" cy="9695492"/>
          </a:xfrm>
          <a:custGeom>
            <a:avLst/>
            <a:gdLst/>
            <a:ahLst/>
            <a:cxnLst/>
            <a:rect r="r" b="b" t="t" l="l"/>
            <a:pathLst>
              <a:path h="9695492" w="13398293">
                <a:moveTo>
                  <a:pt x="13398293" y="0"/>
                </a:moveTo>
                <a:lnTo>
                  <a:pt x="0" y="0"/>
                </a:lnTo>
                <a:lnTo>
                  <a:pt x="0" y="9695493"/>
                </a:lnTo>
                <a:lnTo>
                  <a:pt x="13398293" y="9695493"/>
                </a:lnTo>
                <a:lnTo>
                  <a:pt x="133982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413076" y="3406243"/>
            <a:ext cx="9799626" cy="3906039"/>
            <a:chOff x="0" y="0"/>
            <a:chExt cx="2580971" cy="1028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0971" cy="1028751"/>
            </a:xfrm>
            <a:custGeom>
              <a:avLst/>
              <a:gdLst/>
              <a:ahLst/>
              <a:cxnLst/>
              <a:rect r="r" b="b" t="t" l="l"/>
              <a:pathLst>
                <a:path h="1028751" w="2580971">
                  <a:moveTo>
                    <a:pt x="79002" y="0"/>
                  </a:moveTo>
                  <a:lnTo>
                    <a:pt x="2501969" y="0"/>
                  </a:lnTo>
                  <a:cubicBezTo>
                    <a:pt x="2522922" y="0"/>
                    <a:pt x="2543016" y="8323"/>
                    <a:pt x="2557832" y="23139"/>
                  </a:cubicBezTo>
                  <a:cubicBezTo>
                    <a:pt x="2572648" y="37955"/>
                    <a:pt x="2580971" y="58050"/>
                    <a:pt x="2580971" y="79002"/>
                  </a:cubicBezTo>
                  <a:lnTo>
                    <a:pt x="2580971" y="949749"/>
                  </a:lnTo>
                  <a:cubicBezTo>
                    <a:pt x="2580971" y="993381"/>
                    <a:pt x="2545601" y="1028751"/>
                    <a:pt x="2501969" y="1028751"/>
                  </a:cubicBezTo>
                  <a:lnTo>
                    <a:pt x="79002" y="1028751"/>
                  </a:lnTo>
                  <a:cubicBezTo>
                    <a:pt x="58050" y="1028751"/>
                    <a:pt x="37955" y="1020428"/>
                    <a:pt x="23139" y="1005612"/>
                  </a:cubicBezTo>
                  <a:cubicBezTo>
                    <a:pt x="8323" y="990796"/>
                    <a:pt x="0" y="970702"/>
                    <a:pt x="0" y="949749"/>
                  </a:cubicBezTo>
                  <a:lnTo>
                    <a:pt x="0" y="79002"/>
                  </a:lnTo>
                  <a:cubicBezTo>
                    <a:pt x="0" y="35370"/>
                    <a:pt x="35370" y="0"/>
                    <a:pt x="79002" y="0"/>
                  </a:cubicBezTo>
                  <a:close/>
                </a:path>
              </a:pathLst>
            </a:custGeom>
            <a:solidFill>
              <a:srgbClr val="B9E1E4">
                <a:alpha val="4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80971" cy="1095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720470">
            <a:off x="-35168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9061" y="276451"/>
            <a:ext cx="15253063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1. PROJECT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13076" y="3683197"/>
            <a:ext cx="9373310" cy="327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2424" indent="-286212" lvl="1">
              <a:lnSpc>
                <a:spcPts val="3711"/>
              </a:lnSpc>
              <a:buFont typeface="Arial"/>
              <a:buChar char="•"/>
            </a:pPr>
            <a:r>
              <a:rPr lang="en-US" sz="26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Analyze IT helpdesk performance and assess the impact of AI-driven ticket resolution</a:t>
            </a:r>
          </a:p>
          <a:p>
            <a:pPr algn="just" marL="572424" indent="-286212" lvl="1">
              <a:lnSpc>
                <a:spcPts val="3711"/>
              </a:lnSpc>
              <a:buFont typeface="Arial"/>
              <a:buChar char="•"/>
            </a:pPr>
            <a:r>
              <a:rPr lang="en-US" sz="26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End-to-end BI solution: ETL → Data Model → DAX KPIs → Dashboard → Insights</a:t>
            </a:r>
          </a:p>
          <a:p>
            <a:pPr algn="just" marL="572424" indent="-286212" lvl="1">
              <a:lnSpc>
                <a:spcPts val="3711"/>
              </a:lnSpc>
              <a:buFont typeface="Arial"/>
              <a:buChar char="•"/>
            </a:pPr>
            <a:r>
              <a:rPr lang="en-US" sz="26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 areas: Ticket volume, resolution efficiency, SLA compliance, AI vs Human performance</a:t>
            </a:r>
          </a:p>
          <a:p>
            <a:pPr algn="just" marL="0" indent="0" lvl="0">
              <a:lnSpc>
                <a:spcPts val="3711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101333" y="1741715"/>
            <a:ext cx="1664529" cy="166452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6305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22067">
            <a:off x="-1754495" y="6572465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7"/>
                </a:lnTo>
                <a:lnTo>
                  <a:pt x="12178944" y="8813127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87646">
            <a:off x="12050913" y="-2660948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653673" y="63743"/>
            <a:ext cx="16692120" cy="146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8"/>
              </a:lnSpc>
            </a:pPr>
            <a:r>
              <a:rPr lang="en-US" b="true" sz="8507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2. DATA &amp; BI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5808" y="6047264"/>
            <a:ext cx="3402572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Date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Queue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Priority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Ticket Type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25570" y="2640567"/>
            <a:ext cx="4183102" cy="1163470"/>
            <a:chOff x="0" y="0"/>
            <a:chExt cx="1101722" cy="3064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1722" cy="306428"/>
            </a:xfrm>
            <a:custGeom>
              <a:avLst/>
              <a:gdLst/>
              <a:ahLst/>
              <a:cxnLst/>
              <a:rect r="r" b="b" t="t" l="l"/>
              <a:pathLst>
                <a:path h="306428" w="1101722">
                  <a:moveTo>
                    <a:pt x="153214" y="0"/>
                  </a:moveTo>
                  <a:lnTo>
                    <a:pt x="948508" y="0"/>
                  </a:lnTo>
                  <a:cubicBezTo>
                    <a:pt x="989143" y="0"/>
                    <a:pt x="1028114" y="16142"/>
                    <a:pt x="1056847" y="44875"/>
                  </a:cubicBezTo>
                  <a:cubicBezTo>
                    <a:pt x="1085580" y="73609"/>
                    <a:pt x="1101722" y="112579"/>
                    <a:pt x="1101722" y="153214"/>
                  </a:cubicBezTo>
                  <a:lnTo>
                    <a:pt x="1101722" y="153214"/>
                  </a:lnTo>
                  <a:cubicBezTo>
                    <a:pt x="1101722" y="237832"/>
                    <a:pt x="1033126" y="306428"/>
                    <a:pt x="948508" y="306428"/>
                  </a:cubicBezTo>
                  <a:lnTo>
                    <a:pt x="153214" y="306428"/>
                  </a:lnTo>
                  <a:cubicBezTo>
                    <a:pt x="68596" y="306428"/>
                    <a:pt x="0" y="237832"/>
                    <a:pt x="0" y="153214"/>
                  </a:cubicBezTo>
                  <a:lnTo>
                    <a:pt x="0" y="153214"/>
                  </a:lnTo>
                  <a:cubicBezTo>
                    <a:pt x="0" y="68596"/>
                    <a:pt x="68596" y="0"/>
                    <a:pt x="153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101722" cy="37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8003" y="2786206"/>
            <a:ext cx="391823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CLEANED AND TRANSFORMED USING ETL PROCESSES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474390" y="2120800"/>
            <a:ext cx="1392979" cy="139297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384042" y="2640567"/>
            <a:ext cx="4183102" cy="1163470"/>
            <a:chOff x="0" y="0"/>
            <a:chExt cx="1101722" cy="3064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1722" cy="306428"/>
            </a:xfrm>
            <a:custGeom>
              <a:avLst/>
              <a:gdLst/>
              <a:ahLst/>
              <a:cxnLst/>
              <a:rect r="r" b="b" t="t" l="l"/>
              <a:pathLst>
                <a:path h="306428" w="1101722">
                  <a:moveTo>
                    <a:pt x="153214" y="0"/>
                  </a:moveTo>
                  <a:lnTo>
                    <a:pt x="948508" y="0"/>
                  </a:lnTo>
                  <a:cubicBezTo>
                    <a:pt x="989143" y="0"/>
                    <a:pt x="1028114" y="16142"/>
                    <a:pt x="1056847" y="44875"/>
                  </a:cubicBezTo>
                  <a:cubicBezTo>
                    <a:pt x="1085580" y="73609"/>
                    <a:pt x="1101722" y="112579"/>
                    <a:pt x="1101722" y="153214"/>
                  </a:cubicBezTo>
                  <a:lnTo>
                    <a:pt x="1101722" y="153214"/>
                  </a:lnTo>
                  <a:cubicBezTo>
                    <a:pt x="1101722" y="237832"/>
                    <a:pt x="1033126" y="306428"/>
                    <a:pt x="948508" y="306428"/>
                  </a:cubicBezTo>
                  <a:lnTo>
                    <a:pt x="153214" y="306428"/>
                  </a:lnTo>
                  <a:cubicBezTo>
                    <a:pt x="68596" y="306428"/>
                    <a:pt x="0" y="237832"/>
                    <a:pt x="0" y="153214"/>
                  </a:cubicBezTo>
                  <a:lnTo>
                    <a:pt x="0" y="153214"/>
                  </a:lnTo>
                  <a:cubicBezTo>
                    <a:pt x="0" y="68596"/>
                    <a:pt x="68596" y="0"/>
                    <a:pt x="153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101722" cy="37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35543" y="4418851"/>
            <a:ext cx="4183102" cy="1163470"/>
            <a:chOff x="0" y="0"/>
            <a:chExt cx="1101722" cy="3064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1722" cy="306428"/>
            </a:xfrm>
            <a:custGeom>
              <a:avLst/>
              <a:gdLst/>
              <a:ahLst/>
              <a:cxnLst/>
              <a:rect r="r" b="b" t="t" l="l"/>
              <a:pathLst>
                <a:path h="306428" w="1101722">
                  <a:moveTo>
                    <a:pt x="153214" y="0"/>
                  </a:moveTo>
                  <a:lnTo>
                    <a:pt x="948508" y="0"/>
                  </a:lnTo>
                  <a:cubicBezTo>
                    <a:pt x="989143" y="0"/>
                    <a:pt x="1028114" y="16142"/>
                    <a:pt x="1056847" y="44875"/>
                  </a:cubicBezTo>
                  <a:cubicBezTo>
                    <a:pt x="1085580" y="73609"/>
                    <a:pt x="1101722" y="112579"/>
                    <a:pt x="1101722" y="153214"/>
                  </a:cubicBezTo>
                  <a:lnTo>
                    <a:pt x="1101722" y="153214"/>
                  </a:lnTo>
                  <a:cubicBezTo>
                    <a:pt x="1101722" y="237832"/>
                    <a:pt x="1033126" y="306428"/>
                    <a:pt x="948508" y="306428"/>
                  </a:cubicBezTo>
                  <a:lnTo>
                    <a:pt x="153214" y="306428"/>
                  </a:lnTo>
                  <a:cubicBezTo>
                    <a:pt x="68596" y="306428"/>
                    <a:pt x="0" y="237832"/>
                    <a:pt x="0" y="153214"/>
                  </a:cubicBezTo>
                  <a:lnTo>
                    <a:pt x="0" y="153214"/>
                  </a:lnTo>
                  <a:cubicBezTo>
                    <a:pt x="0" y="68596"/>
                    <a:pt x="68596" y="0"/>
                    <a:pt x="153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01722" cy="37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38594" y="2605102"/>
            <a:ext cx="4183102" cy="1163470"/>
            <a:chOff x="0" y="0"/>
            <a:chExt cx="1101722" cy="3064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1722" cy="306428"/>
            </a:xfrm>
            <a:custGeom>
              <a:avLst/>
              <a:gdLst/>
              <a:ahLst/>
              <a:cxnLst/>
              <a:rect r="r" b="b" t="t" l="l"/>
              <a:pathLst>
                <a:path h="306428" w="1101722">
                  <a:moveTo>
                    <a:pt x="153214" y="0"/>
                  </a:moveTo>
                  <a:lnTo>
                    <a:pt x="948508" y="0"/>
                  </a:lnTo>
                  <a:cubicBezTo>
                    <a:pt x="989143" y="0"/>
                    <a:pt x="1028114" y="16142"/>
                    <a:pt x="1056847" y="44875"/>
                  </a:cubicBezTo>
                  <a:cubicBezTo>
                    <a:pt x="1085580" y="73609"/>
                    <a:pt x="1101722" y="112579"/>
                    <a:pt x="1101722" y="153214"/>
                  </a:cubicBezTo>
                  <a:lnTo>
                    <a:pt x="1101722" y="153214"/>
                  </a:lnTo>
                  <a:cubicBezTo>
                    <a:pt x="1101722" y="237832"/>
                    <a:pt x="1033126" y="306428"/>
                    <a:pt x="948508" y="306428"/>
                  </a:cubicBezTo>
                  <a:lnTo>
                    <a:pt x="153214" y="306428"/>
                  </a:lnTo>
                  <a:cubicBezTo>
                    <a:pt x="68596" y="306428"/>
                    <a:pt x="0" y="237832"/>
                    <a:pt x="0" y="153214"/>
                  </a:cubicBezTo>
                  <a:lnTo>
                    <a:pt x="0" y="153214"/>
                  </a:lnTo>
                  <a:cubicBezTo>
                    <a:pt x="0" y="68596"/>
                    <a:pt x="68596" y="0"/>
                    <a:pt x="153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01722" cy="37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761555" y="4418851"/>
            <a:ext cx="4183102" cy="1163470"/>
            <a:chOff x="0" y="0"/>
            <a:chExt cx="1101722" cy="3064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1722" cy="306428"/>
            </a:xfrm>
            <a:custGeom>
              <a:avLst/>
              <a:gdLst/>
              <a:ahLst/>
              <a:cxnLst/>
              <a:rect r="r" b="b" t="t" l="l"/>
              <a:pathLst>
                <a:path h="306428" w="1101722">
                  <a:moveTo>
                    <a:pt x="153214" y="0"/>
                  </a:moveTo>
                  <a:lnTo>
                    <a:pt x="948508" y="0"/>
                  </a:lnTo>
                  <a:cubicBezTo>
                    <a:pt x="989143" y="0"/>
                    <a:pt x="1028114" y="16142"/>
                    <a:pt x="1056847" y="44875"/>
                  </a:cubicBezTo>
                  <a:cubicBezTo>
                    <a:pt x="1085580" y="73609"/>
                    <a:pt x="1101722" y="112579"/>
                    <a:pt x="1101722" y="153214"/>
                  </a:cubicBezTo>
                  <a:lnTo>
                    <a:pt x="1101722" y="153214"/>
                  </a:lnTo>
                  <a:cubicBezTo>
                    <a:pt x="1101722" y="237832"/>
                    <a:pt x="1033126" y="306428"/>
                    <a:pt x="948508" y="306428"/>
                  </a:cubicBezTo>
                  <a:lnTo>
                    <a:pt x="153214" y="306428"/>
                  </a:lnTo>
                  <a:cubicBezTo>
                    <a:pt x="68596" y="306428"/>
                    <a:pt x="0" y="237832"/>
                    <a:pt x="0" y="153214"/>
                  </a:cubicBezTo>
                  <a:lnTo>
                    <a:pt x="0" y="153214"/>
                  </a:lnTo>
                  <a:cubicBezTo>
                    <a:pt x="0" y="68596"/>
                    <a:pt x="68596" y="0"/>
                    <a:pt x="153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101722" cy="37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692386" y="4824373"/>
            <a:ext cx="39182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3988" y="4714836"/>
            <a:ext cx="391823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DEDICATED DATE TABLE ENABLING TIME INTELLIGENCE (MOM, YOY)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90994" y="3022277"/>
            <a:ext cx="39182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FACT TABLE: SUPPORT TICKETS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16475" y="2888927"/>
            <a:ext cx="391823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 SCHEMA DESIGN FOR ANALYTICAL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076780">
            <a:off x="12337185" y="-1192507"/>
            <a:ext cx="10739973" cy="7771835"/>
          </a:xfrm>
          <a:custGeom>
            <a:avLst/>
            <a:gdLst/>
            <a:ahLst/>
            <a:cxnLst/>
            <a:rect r="r" b="b" t="t" l="l"/>
            <a:pathLst>
              <a:path h="7771835" w="10739973">
                <a:moveTo>
                  <a:pt x="0" y="0"/>
                </a:moveTo>
                <a:lnTo>
                  <a:pt x="10739973" y="0"/>
                </a:lnTo>
                <a:lnTo>
                  <a:pt x="10739973" y="7771835"/>
                </a:lnTo>
                <a:lnTo>
                  <a:pt x="0" y="777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797" y="77183"/>
            <a:ext cx="13263255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3. DASHBOARD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8664" y="1780631"/>
            <a:ext cx="9692649" cy="5754115"/>
            <a:chOff x="0" y="0"/>
            <a:chExt cx="2552796" cy="151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2797" cy="1515487"/>
            </a:xfrm>
            <a:custGeom>
              <a:avLst/>
              <a:gdLst/>
              <a:ahLst/>
              <a:cxnLst/>
              <a:rect r="r" b="b" t="t" l="l"/>
              <a:pathLst>
                <a:path h="1515487" w="2552797">
                  <a:moveTo>
                    <a:pt x="52717" y="0"/>
                  </a:moveTo>
                  <a:lnTo>
                    <a:pt x="2500080" y="0"/>
                  </a:lnTo>
                  <a:cubicBezTo>
                    <a:pt x="2514061" y="0"/>
                    <a:pt x="2527470" y="5554"/>
                    <a:pt x="2537356" y="15440"/>
                  </a:cubicBezTo>
                  <a:cubicBezTo>
                    <a:pt x="2547242" y="25327"/>
                    <a:pt x="2552797" y="38736"/>
                    <a:pt x="2552797" y="52717"/>
                  </a:cubicBezTo>
                  <a:lnTo>
                    <a:pt x="2552797" y="1462770"/>
                  </a:lnTo>
                  <a:cubicBezTo>
                    <a:pt x="2552797" y="1491885"/>
                    <a:pt x="2529194" y="1515487"/>
                    <a:pt x="2500080" y="1515487"/>
                  </a:cubicBezTo>
                  <a:lnTo>
                    <a:pt x="52717" y="1515487"/>
                  </a:lnTo>
                  <a:cubicBezTo>
                    <a:pt x="23602" y="1515487"/>
                    <a:pt x="0" y="1491885"/>
                    <a:pt x="0" y="1462770"/>
                  </a:cubicBezTo>
                  <a:lnTo>
                    <a:pt x="0" y="52717"/>
                  </a:lnTo>
                  <a:cubicBezTo>
                    <a:pt x="0" y="23602"/>
                    <a:pt x="23602" y="0"/>
                    <a:pt x="52717" y="0"/>
                  </a:cubicBezTo>
                  <a:close/>
                </a:path>
              </a:pathLst>
            </a:custGeom>
            <a:solidFill>
              <a:srgbClr val="B9E1E4">
                <a:alpha val="4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52796" cy="158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54302" y="2172533"/>
            <a:ext cx="9411707" cy="496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2667" indent="-376333" lvl="1">
              <a:lnSpc>
                <a:spcPts val="4880"/>
              </a:lnSpc>
              <a:buFont typeface="Arial"/>
              <a:buChar char="•"/>
            </a:pPr>
            <a:r>
              <a:rPr lang="en-US" sz="34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Power BI dashboard</a:t>
            </a:r>
          </a:p>
          <a:p>
            <a:pPr algn="just" marL="752667" indent="-376333" lvl="1">
              <a:lnSpc>
                <a:spcPts val="4880"/>
              </a:lnSpc>
              <a:buFont typeface="Arial"/>
              <a:buChar char="•"/>
            </a:pPr>
            <a:r>
              <a:rPr lang="en-US" sz="34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Executive-level KPIs and drill-down capabilities</a:t>
            </a:r>
          </a:p>
          <a:p>
            <a:pPr algn="just" marL="752667" indent="-376333" lvl="1">
              <a:lnSpc>
                <a:spcPts val="4880"/>
              </a:lnSpc>
              <a:buFont typeface="Arial"/>
              <a:buChar char="•"/>
            </a:pPr>
            <a:r>
              <a:rPr lang="en-US" sz="34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Filters and slicers for Date, Queue, Priority, and Resolution Type</a:t>
            </a:r>
          </a:p>
          <a:p>
            <a:pPr algn="just" marL="752667" indent="-376333" lvl="1">
              <a:lnSpc>
                <a:spcPts val="4880"/>
              </a:lnSpc>
              <a:buFont typeface="Arial"/>
              <a:buChar char="•"/>
            </a:pPr>
            <a:r>
              <a:rPr lang="en-US" sz="34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Drill-through page for detailed Queue analysis</a:t>
            </a:r>
          </a:p>
          <a:p>
            <a:pPr algn="just" marL="0" indent="0" lvl="0">
              <a:lnSpc>
                <a:spcPts val="48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408122" y="2267783"/>
            <a:ext cx="5399855" cy="53998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3154411">
            <a:off x="-4445856" y="5671974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3" y="0"/>
                </a:lnTo>
                <a:lnTo>
                  <a:pt x="10212043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448594" y="2267783"/>
            <a:ext cx="1560782" cy="15607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6240" y="277177"/>
            <a:ext cx="954066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5"/>
              </a:lnSpc>
            </a:pPr>
            <a:r>
              <a:rPr lang="en-US" sz="7871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4. KEY KPI METRICS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290217">
            <a:off x="-1753729" y="4662937"/>
            <a:ext cx="15979830" cy="11563586"/>
          </a:xfrm>
          <a:custGeom>
            <a:avLst/>
            <a:gdLst/>
            <a:ahLst/>
            <a:cxnLst/>
            <a:rect r="r" b="b" t="t" l="l"/>
            <a:pathLst>
              <a:path h="11563586" w="15979830">
                <a:moveTo>
                  <a:pt x="15979829" y="0"/>
                </a:moveTo>
                <a:lnTo>
                  <a:pt x="0" y="0"/>
                </a:lnTo>
                <a:lnTo>
                  <a:pt x="0" y="11563586"/>
                </a:lnTo>
                <a:lnTo>
                  <a:pt x="15979829" y="11563586"/>
                </a:lnTo>
                <a:lnTo>
                  <a:pt x="159798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0169" y="2001563"/>
            <a:ext cx="12784351" cy="4946873"/>
            <a:chOff x="0" y="0"/>
            <a:chExt cx="3367072" cy="130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7072" cy="1302880"/>
            </a:xfrm>
            <a:custGeom>
              <a:avLst/>
              <a:gdLst/>
              <a:ahLst/>
              <a:cxnLst/>
              <a:rect r="r" b="b" t="t" l="l"/>
              <a:pathLst>
                <a:path h="1302880" w="3367072">
                  <a:moveTo>
                    <a:pt x="39968" y="0"/>
                  </a:moveTo>
                  <a:lnTo>
                    <a:pt x="3327104" y="0"/>
                  </a:lnTo>
                  <a:cubicBezTo>
                    <a:pt x="3349178" y="0"/>
                    <a:pt x="3367072" y="17894"/>
                    <a:pt x="3367072" y="39968"/>
                  </a:cubicBezTo>
                  <a:lnTo>
                    <a:pt x="3367072" y="1262912"/>
                  </a:lnTo>
                  <a:cubicBezTo>
                    <a:pt x="3367072" y="1284986"/>
                    <a:pt x="3349178" y="1302880"/>
                    <a:pt x="3327104" y="1302880"/>
                  </a:cubicBezTo>
                  <a:lnTo>
                    <a:pt x="39968" y="1302880"/>
                  </a:lnTo>
                  <a:cubicBezTo>
                    <a:pt x="17894" y="1302880"/>
                    <a:pt x="0" y="1284986"/>
                    <a:pt x="0" y="1262912"/>
                  </a:cubicBezTo>
                  <a:lnTo>
                    <a:pt x="0" y="39968"/>
                  </a:lnTo>
                  <a:cubicBezTo>
                    <a:pt x="0" y="17894"/>
                    <a:pt x="17894" y="0"/>
                    <a:pt x="39968" y="0"/>
                  </a:cubicBezTo>
                  <a:close/>
                </a:path>
              </a:pathLst>
            </a:custGeom>
            <a:solidFill>
              <a:srgbClr val="B9E1E4">
                <a:alpha val="4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367072" cy="1369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09033" y="2063944"/>
            <a:ext cx="11955293" cy="501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Tickets – Measures overall support demand</a:t>
            </a:r>
          </a:p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Resolution Time – Evaluates operational efficiency</a:t>
            </a:r>
          </a:p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SLA Breach Rate – Monitors service-level compliance</a:t>
            </a:r>
          </a:p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Resolution Rate – Assesses the level of AI-driven automation</a:t>
            </a:r>
          </a:p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AI Confidence Score – Indicates reliability of AI-assisted resolutions</a:t>
            </a:r>
          </a:p>
          <a:p>
            <a:pPr algn="just" marL="552705" indent="-276352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KPIs provide a comprehensive view of IT helpdesk performance, combining operational efficiency, service quality, and AI effectiveness.</a:t>
            </a:r>
          </a:p>
          <a:p>
            <a:pPr algn="just" marL="552705" indent="-276352" lvl="1">
              <a:lnSpc>
                <a:spcPts val="3584"/>
              </a:lnSpc>
              <a:spcBef>
                <a:spcPct val="0"/>
              </a:spcBef>
              <a:buFont typeface="Arial"/>
              <a:buChar char="•"/>
            </a:pPr>
            <a:r>
              <a:rPr lang="en-US" sz="25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KPIs are implemented using DAX measures and support slicing by time, priority, queue, and resolution method.</a:t>
            </a:r>
          </a:p>
          <a:p>
            <a:pPr algn="just" marL="0" indent="0" lvl="0">
              <a:lnSpc>
                <a:spcPts val="3584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3315205" y="6558372"/>
            <a:ext cx="5399855" cy="53998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22677" y="7190589"/>
            <a:ext cx="2595217" cy="259521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311125">
            <a:off x="10065840" y="-4193510"/>
            <a:ext cx="13447968" cy="9731439"/>
          </a:xfrm>
          <a:custGeom>
            <a:avLst/>
            <a:gdLst/>
            <a:ahLst/>
            <a:cxnLst/>
            <a:rect r="r" b="b" t="t" l="l"/>
            <a:pathLst>
              <a:path h="9731439" w="13447968">
                <a:moveTo>
                  <a:pt x="0" y="0"/>
                </a:moveTo>
                <a:lnTo>
                  <a:pt x="13447968" y="0"/>
                </a:lnTo>
                <a:lnTo>
                  <a:pt x="13447968" y="9731439"/>
                </a:lnTo>
                <a:lnTo>
                  <a:pt x="0" y="9731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42701"/>
            <a:ext cx="14269570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5. TICKET VOLUME TRENDS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8960" y="2044600"/>
            <a:ext cx="8884424" cy="314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3952" indent="-276976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ticket volume shows noticeable fluctuations</a:t>
            </a:r>
          </a:p>
          <a:p>
            <a:pPr algn="just" marL="553952" indent="-276976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Peaks indicate seasonal effects or operational events</a:t>
            </a:r>
          </a:p>
          <a:p>
            <a:pPr algn="just" marL="553952" indent="-276976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Variation across ticket types and priorities</a:t>
            </a:r>
          </a:p>
          <a:p>
            <a:pPr algn="just">
              <a:lnSpc>
                <a:spcPts val="3592"/>
              </a:lnSpc>
            </a:pPr>
          </a:p>
          <a:p>
            <a:pPr algn="just" marL="0" indent="0" lvl="0">
              <a:lnSpc>
                <a:spcPts val="3592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518329" y="5699363"/>
            <a:ext cx="7524056" cy="752405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20469" y="2120800"/>
            <a:ext cx="2723142" cy="272314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97277" y="6725375"/>
            <a:ext cx="9662023" cy="151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938" indent="-258969" lvl="1">
              <a:lnSpc>
                <a:spcPts val="2878"/>
              </a:lnSpc>
              <a:buFont typeface="Arial"/>
              <a:buChar char="•"/>
            </a:pPr>
            <a:r>
              <a:rPr lang="en-US" b="true" sz="2398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BUSINESS INSIGHT:</a:t>
            </a:r>
          </a:p>
          <a:p>
            <a:pPr algn="l" marL="517938" indent="-258969" lvl="1">
              <a:lnSpc>
                <a:spcPts val="2878"/>
              </a:lnSpc>
              <a:buFont typeface="Arial"/>
              <a:buChar char="•"/>
            </a:pPr>
            <a:r>
              <a:rPr lang="en-US" b="true" sz="2398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UNDERSTANDING VOLUME TRENDS SUPPORTS CAPACITY PLANNING AND WORKLOAD ANTICIPATION</a:t>
            </a:r>
          </a:p>
          <a:p>
            <a:pPr algn="l">
              <a:lnSpc>
                <a:spcPts val="287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2672"/>
            <a:ext cx="20104183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6. RESOLUTION TIME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6942" y="6260315"/>
            <a:ext cx="12365879" cy="107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252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BUSINESS INSIGHT:</a:t>
            </a:r>
          </a:p>
          <a:p>
            <a:pPr algn="l" marL="486377" indent="-243189" lvl="1">
              <a:lnSpc>
                <a:spcPts val="2703"/>
              </a:lnSpc>
              <a:buFont typeface="Arial"/>
              <a:buChar char="•"/>
            </a:pPr>
            <a:r>
              <a:rPr lang="en-US" b="true" sz="2252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RESOLUTION SPEED DIRECTLY IMPACTS USER SATISFACTION AND IT CREDIBILITY</a:t>
            </a:r>
          </a:p>
          <a:p>
            <a:pPr algn="l">
              <a:lnSpc>
                <a:spcPts val="270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46457" y="1931191"/>
            <a:ext cx="8446336" cy="3212309"/>
            <a:chOff x="0" y="0"/>
            <a:chExt cx="2224549" cy="846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4549" cy="846040"/>
            </a:xfrm>
            <a:custGeom>
              <a:avLst/>
              <a:gdLst/>
              <a:ahLst/>
              <a:cxnLst/>
              <a:rect r="r" b="b" t="t" l="l"/>
              <a:pathLst>
                <a:path h="846040" w="2224549">
                  <a:moveTo>
                    <a:pt x="60496" y="0"/>
                  </a:moveTo>
                  <a:lnTo>
                    <a:pt x="2164054" y="0"/>
                  </a:lnTo>
                  <a:cubicBezTo>
                    <a:pt x="2180098" y="0"/>
                    <a:pt x="2195486" y="6374"/>
                    <a:pt x="2206831" y="17719"/>
                  </a:cubicBezTo>
                  <a:cubicBezTo>
                    <a:pt x="2218176" y="29064"/>
                    <a:pt x="2224549" y="44451"/>
                    <a:pt x="2224549" y="60496"/>
                  </a:cubicBezTo>
                  <a:lnTo>
                    <a:pt x="2224549" y="785545"/>
                  </a:lnTo>
                  <a:cubicBezTo>
                    <a:pt x="2224549" y="801589"/>
                    <a:pt x="2218176" y="816976"/>
                    <a:pt x="2206831" y="828321"/>
                  </a:cubicBezTo>
                  <a:cubicBezTo>
                    <a:pt x="2195486" y="839667"/>
                    <a:pt x="2180098" y="846040"/>
                    <a:pt x="2164054" y="846040"/>
                  </a:cubicBezTo>
                  <a:lnTo>
                    <a:pt x="60496" y="846040"/>
                  </a:lnTo>
                  <a:cubicBezTo>
                    <a:pt x="44451" y="846040"/>
                    <a:pt x="29064" y="839667"/>
                    <a:pt x="17719" y="828321"/>
                  </a:cubicBezTo>
                  <a:cubicBezTo>
                    <a:pt x="6374" y="816976"/>
                    <a:pt x="0" y="801589"/>
                    <a:pt x="0" y="785545"/>
                  </a:cubicBezTo>
                  <a:lnTo>
                    <a:pt x="0" y="60496"/>
                  </a:lnTo>
                  <a:cubicBezTo>
                    <a:pt x="0" y="44451"/>
                    <a:pt x="6374" y="29064"/>
                    <a:pt x="17719" y="17719"/>
                  </a:cubicBezTo>
                  <a:cubicBezTo>
                    <a:pt x="29064" y="6374"/>
                    <a:pt x="44451" y="0"/>
                    <a:pt x="60496" y="0"/>
                  </a:cubicBezTo>
                  <a:close/>
                </a:path>
              </a:pathLst>
            </a:custGeom>
            <a:solidFill>
              <a:srgbClr val="B9E1E4">
                <a:alpha val="4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24549" cy="91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8630" y="2110973"/>
            <a:ext cx="7661991" cy="302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459" indent="-261729" lvl="1">
              <a:lnSpc>
                <a:spcPts val="3394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High-priority tickets resolved faster than low-priority ones</a:t>
            </a:r>
          </a:p>
          <a:p>
            <a:pPr algn="just" marL="523459" indent="-261729" lvl="1">
              <a:lnSpc>
                <a:spcPts val="3394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AI-resolved tickets show lower average resolution times</a:t>
            </a:r>
          </a:p>
          <a:p>
            <a:pPr algn="just" marL="523459" indent="-261729" lvl="1">
              <a:lnSpc>
                <a:spcPts val="3394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Some tickets still experience long resolution delays</a:t>
            </a:r>
          </a:p>
          <a:p>
            <a:pPr algn="just" marL="0" indent="0" lvl="0">
              <a:lnSpc>
                <a:spcPts val="3394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622067">
            <a:off x="-1754495" y="6572465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7"/>
                </a:lnTo>
                <a:lnTo>
                  <a:pt x="12178944" y="8813127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9372839">
            <a:off x="8639671" y="3932444"/>
            <a:ext cx="13447968" cy="9731439"/>
          </a:xfrm>
          <a:custGeom>
            <a:avLst/>
            <a:gdLst/>
            <a:ahLst/>
            <a:cxnLst/>
            <a:rect r="r" b="b" t="t" l="l"/>
            <a:pathLst>
              <a:path h="9731439" w="13447968">
                <a:moveTo>
                  <a:pt x="13447968" y="9731439"/>
                </a:moveTo>
                <a:lnTo>
                  <a:pt x="0" y="9731439"/>
                </a:lnTo>
                <a:lnTo>
                  <a:pt x="0" y="0"/>
                </a:lnTo>
                <a:lnTo>
                  <a:pt x="13447968" y="0"/>
                </a:lnTo>
                <a:lnTo>
                  <a:pt x="13447968" y="973143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408122" y="2345383"/>
            <a:ext cx="5572914" cy="55729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06550" y="2337739"/>
            <a:ext cx="1795797" cy="179579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87646">
            <a:off x="12925225" y="-162244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3" y="0"/>
                </a:lnTo>
                <a:lnTo>
                  <a:pt x="10212043" y="7389807"/>
                </a:lnTo>
                <a:lnTo>
                  <a:pt x="0" y="738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89598"/>
            <a:ext cx="15259568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7. SLA COMPLIANCE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02699" y="6258609"/>
            <a:ext cx="10375049" cy="133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2114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BUSINESS INSIGHT:</a:t>
            </a:r>
          </a:p>
          <a:p>
            <a:pPr algn="l" marL="456578" indent="-228289" lvl="1">
              <a:lnSpc>
                <a:spcPts val="2537"/>
              </a:lnSpc>
              <a:buFont typeface="Arial"/>
              <a:buChar char="•"/>
            </a:pPr>
            <a:r>
              <a:rPr lang="en-US" b="true" sz="2114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Ide</a:t>
            </a:r>
            <a:r>
              <a:rPr lang="en-US" b="true" sz="2114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NTIFIES PROCESS INEFFICIENCIES AND UNEVEN WORKLOAD DISTRIBUTION</a:t>
            </a:r>
          </a:p>
          <a:p>
            <a:pPr algn="l">
              <a:lnSpc>
                <a:spcPts val="253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55269" y="1977207"/>
            <a:ext cx="9612100" cy="284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3"/>
              </a:lnSpc>
            </a:pPr>
            <a:r>
              <a:rPr lang="en-US" sz="321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SLA breaches are higher in:</a:t>
            </a:r>
          </a:p>
          <a:p>
            <a:pPr algn="just" marL="694492" indent="-347246" lvl="1">
              <a:lnSpc>
                <a:spcPts val="4503"/>
              </a:lnSpc>
              <a:buFont typeface="Arial"/>
              <a:buChar char="•"/>
            </a:pPr>
            <a:r>
              <a:rPr lang="en-US" b="true" sz="32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Lower-priority tickets</a:t>
            </a:r>
          </a:p>
          <a:p>
            <a:pPr algn="just" marL="694492" indent="-347246" lvl="1">
              <a:lnSpc>
                <a:spcPts val="4503"/>
              </a:lnSpc>
              <a:buFont typeface="Arial"/>
              <a:buChar char="•"/>
            </a:pPr>
            <a:r>
              <a:rPr lang="en-US" b="true" sz="32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 issue categories</a:t>
            </a:r>
          </a:p>
          <a:p>
            <a:pPr algn="just" marL="694492" indent="-347246" lvl="1">
              <a:lnSpc>
                <a:spcPts val="4503"/>
              </a:lnSpc>
              <a:buFont typeface="Arial"/>
              <a:buChar char="•"/>
            </a:pPr>
            <a:r>
              <a:rPr lang="en-US" b="true" sz="32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Specific support queues</a:t>
            </a:r>
          </a:p>
          <a:p>
            <a:pPr algn="just" marL="0" indent="0" lvl="0">
              <a:lnSpc>
                <a:spcPts val="4503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1780735">
            <a:off x="-3007698" y="4201124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6"/>
                </a:lnTo>
                <a:lnTo>
                  <a:pt x="12178944" y="8813126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75287" y="2504313"/>
            <a:ext cx="5644368" cy="564436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74390" y="2120800"/>
            <a:ext cx="1392979" cy="13929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6240" y="277177"/>
            <a:ext cx="15270201" cy="254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5"/>
              </a:lnSpc>
            </a:pPr>
            <a:r>
              <a:rPr lang="en-US" sz="7871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8. AI VS HUMAN RESOLUTION EFFECTIVENESS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290217">
            <a:off x="-1753729" y="4662937"/>
            <a:ext cx="15979830" cy="11563586"/>
          </a:xfrm>
          <a:custGeom>
            <a:avLst/>
            <a:gdLst/>
            <a:ahLst/>
            <a:cxnLst/>
            <a:rect r="r" b="b" t="t" l="l"/>
            <a:pathLst>
              <a:path h="11563586" w="15979830">
                <a:moveTo>
                  <a:pt x="15979829" y="0"/>
                </a:moveTo>
                <a:lnTo>
                  <a:pt x="0" y="0"/>
                </a:lnTo>
                <a:lnTo>
                  <a:pt x="0" y="11563586"/>
                </a:lnTo>
                <a:lnTo>
                  <a:pt x="15979829" y="11563586"/>
                </a:lnTo>
                <a:lnTo>
                  <a:pt x="159798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5765" y="3189415"/>
            <a:ext cx="9704406" cy="314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2705" indent="-276353" lvl="1">
              <a:lnSpc>
                <a:spcPts val="3584"/>
              </a:lnSpc>
              <a:buFont typeface="Arial"/>
              <a:buChar char="•"/>
            </a:pP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performs best on repetitive, low-complexity issues</a:t>
            </a:r>
          </a:p>
          <a:p>
            <a:pPr algn="just" marL="552705" indent="-276353" lvl="1">
              <a:lnSpc>
                <a:spcPts val="3584"/>
              </a:lnSpc>
              <a:buFont typeface="Arial"/>
              <a:buChar char="•"/>
            </a:pP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AI-resolved tickets:</a:t>
            </a:r>
          </a:p>
          <a:p>
            <a:pPr algn="just" marL="552705" indent="-276353" lvl="1">
              <a:lnSpc>
                <a:spcPts val="3584"/>
              </a:lnSpc>
              <a:buFont typeface="Arial"/>
              <a:buChar char="•"/>
            </a:pP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Faster</a:t>
            </a: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resolution</a:t>
            </a:r>
          </a:p>
          <a:p>
            <a:pPr algn="just" marL="552705" indent="-276353" lvl="1">
              <a:lnSpc>
                <a:spcPts val="3584"/>
              </a:lnSpc>
              <a:buFont typeface="Arial"/>
              <a:buChar char="•"/>
            </a:pP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Consistent performance</a:t>
            </a:r>
          </a:p>
          <a:p>
            <a:pPr algn="just" marL="552705" indent="-276353" lvl="1">
              <a:lnSpc>
                <a:spcPts val="35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Human</a:t>
            </a:r>
            <a:r>
              <a:rPr lang="en-US" b="true" sz="2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agents remain essential for complex and high-priority cases</a:t>
            </a:r>
          </a:p>
          <a:p>
            <a:pPr algn="just" marL="0" indent="0" lvl="0">
              <a:lnSpc>
                <a:spcPts val="358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315205" y="6558372"/>
            <a:ext cx="5399855" cy="53998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22677" y="7190589"/>
            <a:ext cx="2595217" cy="259521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27204" y="3635519"/>
            <a:ext cx="7264337" cy="150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BUSINESS INSIGHT:</a:t>
            </a:r>
          </a:p>
          <a:p>
            <a:pPr algn="l" marL="517210" indent="-258605" lvl="1">
              <a:lnSpc>
                <a:spcPts val="2874"/>
              </a:lnSpc>
              <a:buFont typeface="Arial"/>
              <a:buChar char="•"/>
            </a:pPr>
            <a:r>
              <a:rPr lang="en-US" b="true" sz="2395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A</a:t>
            </a:r>
            <a:r>
              <a:rPr lang="en-US" b="true" sz="2395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I e</a:t>
            </a:r>
            <a:r>
              <a:rPr lang="en-US" b="true" sz="2395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NHANCES EFFICIENCY BUT DOES NOT REPLACE HUMAN EXPERTISE</a:t>
            </a:r>
          </a:p>
          <a:p>
            <a:pPr algn="l">
              <a:lnSpc>
                <a:spcPts val="287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647098" y="-2200418"/>
            <a:ext cx="7799788" cy="779978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124543" y="-3624"/>
            <a:ext cx="11306636" cy="247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635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9. TIME INTELLIGENCE INSIGHTS (MOM &amp; YOY)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048" y="7287622"/>
            <a:ext cx="10177473" cy="120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BUSINESS INSIGHT:</a:t>
            </a:r>
          </a:p>
          <a:p>
            <a:pPr algn="l" marL="540105" indent="-270052" lvl="1">
              <a:lnSpc>
                <a:spcPts val="3001"/>
              </a:lnSpc>
              <a:buFont typeface="Arial"/>
              <a:buChar char="•"/>
            </a:pPr>
            <a:r>
              <a:rPr lang="en-US" b="true" sz="2501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INDICATES PROCESS MATURITY AND EFFECTIVE AI ADOPTION</a:t>
            </a:r>
          </a:p>
          <a:p>
            <a:pPr algn="l">
              <a:lnSpc>
                <a:spcPts val="30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74837" y="3678002"/>
            <a:ext cx="10069357" cy="238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4"/>
              </a:lnSpc>
            </a:pPr>
            <a:r>
              <a:rPr lang="en-US" sz="270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Month-over-Month analysis shows:</a:t>
            </a:r>
          </a:p>
          <a:p>
            <a:pPr algn="just" marL="583693" indent="-291846" lvl="1">
              <a:lnSpc>
                <a:spcPts val="3784"/>
              </a:lnSpc>
              <a:buFont typeface="Arial"/>
              <a:buChar char="•"/>
            </a:pPr>
            <a:r>
              <a:rPr lang="en-US" b="true" sz="27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</a:t>
            </a:r>
            <a:r>
              <a:rPr lang="en-US" b="true" sz="27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anges in ticket volume</a:t>
            </a:r>
          </a:p>
          <a:p>
            <a:pPr algn="just" marL="583693" indent="-291846" lvl="1">
              <a:lnSpc>
                <a:spcPts val="3784"/>
              </a:lnSpc>
              <a:buFont typeface="Arial"/>
              <a:buChar char="•"/>
            </a:pPr>
            <a:r>
              <a:rPr lang="en-US" b="true" sz="27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Gradual improvement in resolution performance</a:t>
            </a:r>
          </a:p>
          <a:p>
            <a:pPr algn="just" marL="583693" indent="-291846" lvl="1">
              <a:lnSpc>
                <a:spcPts val="3784"/>
              </a:lnSpc>
              <a:buFont typeface="Arial"/>
              <a:buChar char="•"/>
            </a:pPr>
            <a:r>
              <a:rPr lang="en-US" b="true" sz="27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SLA breach rates stabilize or decrease over time</a:t>
            </a:r>
          </a:p>
          <a:p>
            <a:pPr algn="just" marL="0" indent="0" lvl="0">
              <a:lnSpc>
                <a:spcPts val="3784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1157353">
            <a:off x="9447666" y="4009603"/>
            <a:ext cx="13398293" cy="9695492"/>
          </a:xfrm>
          <a:custGeom>
            <a:avLst/>
            <a:gdLst/>
            <a:ahLst/>
            <a:cxnLst/>
            <a:rect r="r" b="b" t="t" l="l"/>
            <a:pathLst>
              <a:path h="9695492" w="13398293">
                <a:moveTo>
                  <a:pt x="0" y="0"/>
                </a:moveTo>
                <a:lnTo>
                  <a:pt x="13398293" y="0"/>
                </a:lnTo>
                <a:lnTo>
                  <a:pt x="13398293" y="9695492"/>
                </a:lnTo>
                <a:lnTo>
                  <a:pt x="0" y="9695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686215" y="5599370"/>
            <a:ext cx="3257979" cy="32579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43182" y="2537044"/>
            <a:ext cx="1006935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Time intelligence is enabled through a dedicated Date dimension marked as a Date Table.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076780">
            <a:off x="11120447" y="-921645"/>
            <a:ext cx="10739973" cy="7771835"/>
          </a:xfrm>
          <a:custGeom>
            <a:avLst/>
            <a:gdLst/>
            <a:ahLst/>
            <a:cxnLst/>
            <a:rect r="r" b="b" t="t" l="l"/>
            <a:pathLst>
              <a:path h="7771835" w="10739973">
                <a:moveTo>
                  <a:pt x="0" y="0"/>
                </a:moveTo>
                <a:lnTo>
                  <a:pt x="10739974" y="0"/>
                </a:lnTo>
                <a:lnTo>
                  <a:pt x="10739974" y="7771835"/>
                </a:lnTo>
                <a:lnTo>
                  <a:pt x="0" y="777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620963" y="5496"/>
            <a:ext cx="14575894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10. DRILL-THROUGH ANALYSIS: QUEUE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51" y="6857394"/>
            <a:ext cx="7087377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VALUE: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Support</a:t>
            </a:r>
            <a:r>
              <a:rPr lang="en-US" b="true" sz="3000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S TARGETED OPERATIONAL IMPROVEMENTS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960284">
            <a:off x="-3537541" y="3885448"/>
            <a:ext cx="15979830" cy="11563586"/>
          </a:xfrm>
          <a:custGeom>
            <a:avLst/>
            <a:gdLst/>
            <a:ahLst/>
            <a:cxnLst/>
            <a:rect r="r" b="b" t="t" l="l"/>
            <a:pathLst>
              <a:path h="11563586" w="15979830">
                <a:moveTo>
                  <a:pt x="15979830" y="0"/>
                </a:moveTo>
                <a:lnTo>
                  <a:pt x="0" y="0"/>
                </a:lnTo>
                <a:lnTo>
                  <a:pt x="0" y="11563586"/>
                </a:lnTo>
                <a:lnTo>
                  <a:pt x="15979830" y="11563586"/>
                </a:lnTo>
                <a:lnTo>
                  <a:pt x="1597983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5350" y="3009509"/>
            <a:ext cx="10075038" cy="367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019" indent="-318510" lvl="1">
              <a:lnSpc>
                <a:spcPts val="4130"/>
              </a:lnSpc>
              <a:buFont typeface="Arial"/>
              <a:buChar char="•"/>
            </a:pPr>
            <a:r>
              <a:rPr lang="en-US" b="true" sz="29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Right-click drill-through enabled from main dashboard</a:t>
            </a:r>
          </a:p>
          <a:p>
            <a:pPr algn="l" marL="637019" indent="-318510" lvl="1">
              <a:lnSpc>
                <a:spcPts val="4130"/>
              </a:lnSpc>
              <a:buFont typeface="Arial"/>
              <a:buChar char="•"/>
            </a:pPr>
            <a:r>
              <a:rPr lang="en-US" b="true" sz="29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Detailed Queue-level insights:</a:t>
            </a:r>
          </a:p>
          <a:p>
            <a:pPr algn="l" marL="637019" indent="-318510" lvl="1">
              <a:lnSpc>
                <a:spcPts val="4130"/>
              </a:lnSpc>
              <a:buFont typeface="Arial"/>
              <a:buChar char="•"/>
            </a:pPr>
            <a:r>
              <a:rPr lang="en-US" b="true" sz="29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Avg Resolution Time</a:t>
            </a:r>
          </a:p>
          <a:p>
            <a:pPr algn="l" marL="637019" indent="-318510" lvl="1">
              <a:lnSpc>
                <a:spcPts val="4130"/>
              </a:lnSpc>
              <a:buFont typeface="Arial"/>
              <a:buChar char="•"/>
            </a:pPr>
            <a:r>
              <a:rPr lang="en-US" b="true" sz="29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SLA Breach Rate</a:t>
            </a:r>
          </a:p>
          <a:p>
            <a:pPr algn="l" marL="637019" indent="-318510" lvl="1">
              <a:lnSpc>
                <a:spcPts val="4130"/>
              </a:lnSpc>
              <a:buFont typeface="Arial"/>
              <a:buChar char="•"/>
            </a:pPr>
            <a:r>
              <a:rPr lang="en-US" b="true" sz="29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Ticket distribution by Priority and Status</a:t>
            </a:r>
          </a:p>
          <a:p>
            <a:pPr algn="l" marL="0" indent="0" lvl="0">
              <a:lnSpc>
                <a:spcPts val="413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506640" y="8511853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56383" y="2334086"/>
            <a:ext cx="2755885" cy="27558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6240" y="277177"/>
            <a:ext cx="17353667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5"/>
              </a:lnSpc>
            </a:pPr>
            <a:r>
              <a:rPr lang="en-US" sz="7871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11. BUSINESS RECOMMENDATIONS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290217">
            <a:off x="-1753729" y="4662937"/>
            <a:ext cx="15979830" cy="11563586"/>
          </a:xfrm>
          <a:custGeom>
            <a:avLst/>
            <a:gdLst/>
            <a:ahLst/>
            <a:cxnLst/>
            <a:rect r="r" b="b" t="t" l="l"/>
            <a:pathLst>
              <a:path h="11563586" w="15979830">
                <a:moveTo>
                  <a:pt x="15979829" y="0"/>
                </a:moveTo>
                <a:lnTo>
                  <a:pt x="0" y="0"/>
                </a:lnTo>
                <a:lnTo>
                  <a:pt x="0" y="11563586"/>
                </a:lnTo>
                <a:lnTo>
                  <a:pt x="15979829" y="11563586"/>
                </a:lnTo>
                <a:lnTo>
                  <a:pt x="159798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1566" y="1871220"/>
            <a:ext cx="12784351" cy="4277187"/>
            <a:chOff x="0" y="0"/>
            <a:chExt cx="3367072" cy="1126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7072" cy="1126502"/>
            </a:xfrm>
            <a:custGeom>
              <a:avLst/>
              <a:gdLst/>
              <a:ahLst/>
              <a:cxnLst/>
              <a:rect r="r" b="b" t="t" l="l"/>
              <a:pathLst>
                <a:path h="1126502" w="3367072">
                  <a:moveTo>
                    <a:pt x="39968" y="0"/>
                  </a:moveTo>
                  <a:lnTo>
                    <a:pt x="3327104" y="0"/>
                  </a:lnTo>
                  <a:cubicBezTo>
                    <a:pt x="3349178" y="0"/>
                    <a:pt x="3367072" y="17894"/>
                    <a:pt x="3367072" y="39968"/>
                  </a:cubicBezTo>
                  <a:lnTo>
                    <a:pt x="3367072" y="1086534"/>
                  </a:lnTo>
                  <a:cubicBezTo>
                    <a:pt x="3367072" y="1108608"/>
                    <a:pt x="3349178" y="1126502"/>
                    <a:pt x="3327104" y="1126502"/>
                  </a:cubicBezTo>
                  <a:lnTo>
                    <a:pt x="39968" y="1126502"/>
                  </a:lnTo>
                  <a:cubicBezTo>
                    <a:pt x="17894" y="1126502"/>
                    <a:pt x="0" y="1108608"/>
                    <a:pt x="0" y="1086534"/>
                  </a:cubicBezTo>
                  <a:lnTo>
                    <a:pt x="0" y="39968"/>
                  </a:lnTo>
                  <a:cubicBezTo>
                    <a:pt x="0" y="17894"/>
                    <a:pt x="17894" y="0"/>
                    <a:pt x="39968" y="0"/>
                  </a:cubicBezTo>
                  <a:close/>
                </a:path>
              </a:pathLst>
            </a:custGeom>
            <a:solidFill>
              <a:srgbClr val="B9E1E4">
                <a:alpha val="4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367072" cy="1193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91566" y="2080154"/>
            <a:ext cx="13704623" cy="41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Expand AI automation for low-complexity ticket types</a:t>
            </a:r>
          </a:p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Maintain human o</a:t>
            </a: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versight for high-priority incidents</a:t>
            </a:r>
          </a:p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 ticket distribution across support queues</a:t>
            </a:r>
          </a:p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SLA breach trends as early warning indicators</a:t>
            </a:r>
          </a:p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</a:t>
            </a: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AI confidence scores continuously</a:t>
            </a:r>
          </a:p>
          <a:p>
            <a:pPr algn="just" marL="633578" indent="-316789" lvl="1">
              <a:lnSpc>
                <a:spcPts val="4108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egrate time-based KPIs into management reviews</a:t>
            </a:r>
          </a:p>
          <a:p>
            <a:pPr algn="just" marL="633578" indent="-316789" lvl="1">
              <a:lnSpc>
                <a:spcPts val="4108"/>
              </a:lnSpc>
              <a:spcBef>
                <a:spcPct val="0"/>
              </a:spcBef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multilingual AI support capabilities</a:t>
            </a:r>
          </a:p>
          <a:p>
            <a:pPr algn="just" marL="0" indent="0" lvl="0">
              <a:lnSpc>
                <a:spcPts val="4108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3315205" y="6558372"/>
            <a:ext cx="5399855" cy="53998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22677" y="7190589"/>
            <a:ext cx="2595217" cy="259521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2672"/>
            <a:ext cx="20104183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12. 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40289"/>
            <a:ext cx="10302568" cy="348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indicators are simulated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 deep NLP analysis of ticket text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 operational factors not included</a:t>
            </a:r>
          </a:p>
          <a:p>
            <a:pPr algn="just" marL="0" indent="0" lvl="0">
              <a:lnSpc>
                <a:spcPts val="5494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622067">
            <a:off x="-1754495" y="6572465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7"/>
                </a:lnTo>
                <a:lnTo>
                  <a:pt x="12178944" y="8813127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9372839">
            <a:off x="8639671" y="3932444"/>
            <a:ext cx="13447968" cy="9731439"/>
          </a:xfrm>
          <a:custGeom>
            <a:avLst/>
            <a:gdLst/>
            <a:ahLst/>
            <a:cxnLst/>
            <a:rect r="r" b="b" t="t" l="l"/>
            <a:pathLst>
              <a:path h="9731439" w="13447968">
                <a:moveTo>
                  <a:pt x="13447968" y="9731439"/>
                </a:moveTo>
                <a:lnTo>
                  <a:pt x="0" y="9731439"/>
                </a:lnTo>
                <a:lnTo>
                  <a:pt x="0" y="0"/>
                </a:lnTo>
                <a:lnTo>
                  <a:pt x="13447968" y="0"/>
                </a:lnTo>
                <a:lnTo>
                  <a:pt x="13447968" y="973143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408122" y="2345383"/>
            <a:ext cx="5572914" cy="55729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6550" y="2337739"/>
            <a:ext cx="1795797" cy="17957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2672"/>
            <a:ext cx="20104183" cy="13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13. FUTURE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40289"/>
            <a:ext cx="10302568" cy="417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 real AI prediction outputs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Apply </a:t>
            </a: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NLP and sentiment analysis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ticket volume forecasting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eal-time streaming dashboards</a:t>
            </a:r>
          </a:p>
          <a:p>
            <a:pPr algn="just" marL="847300" indent="-423650" lvl="1">
              <a:lnSpc>
                <a:spcPts val="5494"/>
              </a:lnSpc>
              <a:buFont typeface="Arial"/>
              <a:buChar char="•"/>
            </a:pPr>
            <a:r>
              <a:rPr lang="en-US" b="true" sz="39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Cost and efficiency analysis</a:t>
            </a:r>
          </a:p>
          <a:p>
            <a:pPr algn="just" marL="0" indent="0" lvl="0">
              <a:lnSpc>
                <a:spcPts val="5494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622067">
            <a:off x="-1754495" y="6572465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7"/>
                </a:lnTo>
                <a:lnTo>
                  <a:pt x="12178944" y="8813127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9372839">
            <a:off x="8639671" y="3932444"/>
            <a:ext cx="13447968" cy="9731439"/>
          </a:xfrm>
          <a:custGeom>
            <a:avLst/>
            <a:gdLst/>
            <a:ahLst/>
            <a:cxnLst/>
            <a:rect r="r" b="b" t="t" l="l"/>
            <a:pathLst>
              <a:path h="9731439" w="13447968">
                <a:moveTo>
                  <a:pt x="13447968" y="9731439"/>
                </a:moveTo>
                <a:lnTo>
                  <a:pt x="0" y="9731439"/>
                </a:lnTo>
                <a:lnTo>
                  <a:pt x="0" y="0"/>
                </a:lnTo>
                <a:lnTo>
                  <a:pt x="13447968" y="0"/>
                </a:lnTo>
                <a:lnTo>
                  <a:pt x="13447968" y="973143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408122" y="2345383"/>
            <a:ext cx="5572914" cy="55729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6550" y="2337739"/>
            <a:ext cx="1795797" cy="17957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2672"/>
            <a:ext cx="2010418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14.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" y="3010423"/>
            <a:ext cx="10587900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 dashboard provides actionab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insights into IT helpdesk operations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s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ignificantly improves efficiency when applied strategically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Combination of BI and AI supports data-driven IT service management</a:t>
            </a:r>
          </a:p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622067">
            <a:off x="-1754495" y="6572465"/>
            <a:ext cx="12178944" cy="8813127"/>
          </a:xfrm>
          <a:custGeom>
            <a:avLst/>
            <a:gdLst/>
            <a:ahLst/>
            <a:cxnLst/>
            <a:rect r="r" b="b" t="t" l="l"/>
            <a:pathLst>
              <a:path h="8813127" w="12178944">
                <a:moveTo>
                  <a:pt x="12178944" y="0"/>
                </a:moveTo>
                <a:lnTo>
                  <a:pt x="0" y="0"/>
                </a:lnTo>
                <a:lnTo>
                  <a:pt x="0" y="8813127"/>
                </a:lnTo>
                <a:lnTo>
                  <a:pt x="12178944" y="8813127"/>
                </a:lnTo>
                <a:lnTo>
                  <a:pt x="121789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9372839">
            <a:off x="8639671" y="3932444"/>
            <a:ext cx="13447968" cy="9731439"/>
          </a:xfrm>
          <a:custGeom>
            <a:avLst/>
            <a:gdLst/>
            <a:ahLst/>
            <a:cxnLst/>
            <a:rect r="r" b="b" t="t" l="l"/>
            <a:pathLst>
              <a:path h="9731439" w="13447968">
                <a:moveTo>
                  <a:pt x="13447968" y="9731439"/>
                </a:moveTo>
                <a:lnTo>
                  <a:pt x="0" y="9731439"/>
                </a:lnTo>
                <a:lnTo>
                  <a:pt x="0" y="0"/>
                </a:lnTo>
                <a:lnTo>
                  <a:pt x="13447968" y="0"/>
                </a:lnTo>
                <a:lnTo>
                  <a:pt x="13447968" y="973143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408122" y="2345383"/>
            <a:ext cx="5572914" cy="55729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6550" y="2337739"/>
            <a:ext cx="1795797" cy="17957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954155">
            <a:off x="11475847" y="-16701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7"/>
                </a:lnTo>
                <a:lnTo>
                  <a:pt x="0" y="738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351545">
            <a:off x="-34787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59836" y="4352925"/>
            <a:ext cx="1392979" cy="13929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8230" y="525647"/>
            <a:ext cx="15938583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0"/>
              </a:lnSpc>
            </a:pPr>
            <a:r>
              <a:rPr lang="en-US" sz="20000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53834" y="2055071"/>
            <a:ext cx="1392979" cy="13929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51245" y="3787679"/>
            <a:ext cx="13456733" cy="54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62"/>
              </a:lnSpc>
            </a:pPr>
            <a:r>
              <a:rPr lang="en-US" sz="16885" b="true">
                <a:solidFill>
                  <a:srgbClr val="65FFE8"/>
                </a:solidFill>
                <a:latin typeface="Neo Tech Bold"/>
                <a:ea typeface="Neo Tech Bold"/>
                <a:cs typeface="Neo Tech Bold"/>
                <a:sym typeface="Neo Tech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DAG9YIUDDCE</dc:identifier>
  <dcterms:modified xsi:type="dcterms:W3CDTF">2011-08-01T06:04:30Z</dcterms:modified>
  <cp:revision>1</cp:revision>
  <dc:title>Blue Modern Gradient IT Solutions &amp; Technology Presentation</dc:title>
</cp:coreProperties>
</file>